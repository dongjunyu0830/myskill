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latin typeface="PingFang SC"/>
              </a:rPr>
              <a:t>基于 U-Net 的遥感影像语义分割系统</a:t>
            </a:r>
          </a:p>
          <a:p>
            <a:pPr algn="ctr"/>
            <a:r>
              <a:rPr sz="2000" b="0">
                <a:latin typeface="PingFang SC"/>
              </a:rPr>
              <a:t>课程设计（数字工程）课堂汇报</a:t>
            </a:r>
          </a:p>
          <a:p>
            <a:pPr algn="ctr"/>
            <a:r>
              <a:rPr sz="2000" b="0">
                <a:latin typeface="PingFang SC"/>
              </a:rPr>
              <a:t>汇报人：陈诗雅 | 学号：2023211857</a:t>
            </a:r>
          </a:p>
          <a:p>
            <a:pPr algn="ctr"/>
            <a:r>
              <a:rPr sz="2000" b="0">
                <a:latin typeface="PingFang SC"/>
              </a:rPr>
              <a:t>人工智能学院 | 空间信息与数字技术 | 04072301</a:t>
            </a:r>
          </a:p>
          <a:p>
            <a:pPr algn="ctr"/>
            <a:r>
              <a:rPr sz="2000" b="0">
                <a:latin typeface="PingFang SC"/>
              </a:rPr>
              <a:t>指导教师：朱盼盼</a:t>
            </a:r>
          </a:p>
          <a:p>
            <a:pPr algn="ctr"/>
            <a:r>
              <a:rPr sz="2000" b="0">
                <a:latin typeface="PingFang SC"/>
              </a:rP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1. 研究背景与任务定义</a:t>
            </a:r>
          </a:p>
          <a:p>
            <a:pPr/>
            <a:r>
              <a:rPr sz="1800" b="0">
                <a:latin typeface="PingFang SC"/>
              </a:rPr>
              <a:t>2. 技术方案与系统架构</a:t>
            </a:r>
          </a:p>
          <a:p>
            <a:pPr/>
            <a:r>
              <a:rPr sz="1800" b="0">
                <a:latin typeface="PingFang SC"/>
              </a:rPr>
              <a:t>3. 数据预处理与模型设计</a:t>
            </a:r>
          </a:p>
          <a:p>
            <a:pPr/>
            <a:r>
              <a:rPr sz="1800" b="0">
                <a:latin typeface="PingFang SC"/>
              </a:rPr>
              <a:t>4. 训练实验与超参数设置</a:t>
            </a:r>
          </a:p>
          <a:p>
            <a:pPr/>
            <a:r>
              <a:rPr sz="1800" b="0">
                <a:latin typeface="PingFang SC"/>
              </a:rPr>
              <a:t>5. 评估结果与 TensorBoard 分析</a:t>
            </a:r>
          </a:p>
          <a:p>
            <a:pPr/>
            <a:r>
              <a:rPr sz="1800" b="0">
                <a:latin typeface="PingFang SC"/>
              </a:rPr>
              <a:t>6. 可视化系统演示</a:t>
            </a:r>
          </a:p>
          <a:p>
            <a:pPr/>
            <a:r>
              <a:rPr sz="1800" b="0">
                <a:latin typeface="PingFang SC"/>
              </a:rPr>
              <a:t>7. 总结、不足与展望</a:t>
            </a:r>
          </a:p>
          <a:p>
            <a:pPr/>
            <a:r>
              <a:rPr sz="1800" b="0">
                <a:latin typeface="PingFang SC"/>
              </a:rPr>
              <a:t>8.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研究背景与意义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土地利用与遥感解译在城市规划、环境监测、农业监测等领域具有重要应用价值</a:t>
            </a:r>
          </a:p>
          <a:p>
            <a:pPr/>
            <a:r>
              <a:rPr sz="1800" b="0">
                <a:latin typeface="PingFang SC"/>
              </a:rPr>
              <a:t>语义分割任务：对图像每个像素进行分类，输入 RGB 遥感图，输出类别掩码</a:t>
            </a:r>
          </a:p>
          <a:p>
            <a:pPr/>
            <a:r>
              <a:rPr sz="1800" b="0">
                <a:latin typeface="PingFang SC"/>
              </a:rPr>
              <a:t>课程目标：掌握从数据预处理、模型构建、训练评估到可视化展示的完整深度学习工程链路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任务与数据集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PingFang SC"/>
              </a:rPr>
              <a:t>主要数据集：BDCI2017（CCF 大数据竞赛遥感数据）</a:t>
            </a:r>
          </a:p>
          <a:p>
            <a:r>
              <a:rPr sz="1800" b="0">
                <a:latin typeface="PingFang SC"/>
              </a:rPr>
              <a:t>图像规格：256×256 RGB</a:t>
            </a:r>
          </a:p>
          <a:p>
            <a:r>
              <a:rPr sz="1800" b="0">
                <a:latin typeface="PingFang SC"/>
              </a:rPr>
              <a:t>5 类地物：其他(0)、植被(1)、建筑(2)、水体(3)、道路(4)</a:t>
            </a:r>
          </a:p>
          <a:p>
            <a:r>
              <a:rPr sz="1800" b="0">
                <a:latin typeface="PingFang SC"/>
              </a:rPr>
              <a:t>数据划分：train / val / test（训练约 85 batch，验证 37 batch，测试 74 张）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65176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20040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类别数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分辨率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本项目用途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BDCI2017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256×256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主要训练与评估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DFC22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512×512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可拓展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WHDLD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256×256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可拓展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遥感影像数据 → 数据加载与增强 → U-Net 模型 → 训练（CrossEntropy + Adam） → 验证（mIoU/F1）→ 保存最优权重 → 测试集评估 → Gradio Web 单图预测与可视化</a:t>
            </a:r>
          </a:p>
          <a:p>
            <a:pPr/>
            <a:r>
              <a:rPr sz="1800" b="0">
                <a:latin typeface="PingFang SC"/>
              </a:rPr>
              <a:t>数据层：datasetconfig/</a:t>
            </a:r>
          </a:p>
          <a:p>
            <a:pPr/>
            <a:r>
              <a:rPr sz="1800" b="0">
                <a:latin typeface="PingFang SC"/>
              </a:rPr>
              <a:t>模型层：model/unet.py</a:t>
            </a:r>
          </a:p>
          <a:p>
            <a:pPr/>
            <a:r>
              <a:rPr sz="1800" b="0">
                <a:latin typeface="PingFang SC"/>
              </a:rPr>
              <a:t>训练层：train.py</a:t>
            </a:r>
          </a:p>
          <a:p>
            <a:pPr/>
            <a:r>
              <a:rPr sz="1800" b="0">
                <a:latin typeface="PingFang SC"/>
              </a:rPr>
              <a:t>评估层：evaluate.py</a:t>
            </a:r>
          </a:p>
          <a:p>
            <a:pPr/>
            <a:r>
              <a:rPr sz="1800" b="0">
                <a:latin typeface="PingFang SC"/>
              </a:rPr>
              <a:t>展示层：Gradio 界面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UNet 模型原理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编码器（下采样）：逐层提取多尺度特征</a:t>
            </a:r>
          </a:p>
          <a:p>
            <a:pPr/>
            <a:r>
              <a:rPr sz="1800" b="0">
                <a:latin typeface="PingFang SC"/>
              </a:rPr>
              <a:t>解码器（上采样）：恢复空间分辨率</a:t>
            </a:r>
          </a:p>
          <a:p>
            <a:pPr/>
            <a:r>
              <a:rPr sz="1800" b="0">
                <a:latin typeface="PingFang SC"/>
              </a:rPr>
              <a:t>跳跃连接（Skip Connection）：融合浅层细节与深层语义</a:t>
            </a:r>
          </a:p>
          <a:p>
            <a:pPr/>
            <a:r>
              <a:rPr sz="1800" b="0">
                <a:latin typeface="PingFang SC"/>
              </a:rPr>
              <a:t>本实验配置：5 类输出、3 通道 RGB 输入、GroupNorm</a:t>
            </a:r>
          </a:p>
          <a:p>
            <a:pPr/>
            <a:r>
              <a:rPr sz="1800" b="0">
                <a:latin typeface="PingFang SC"/>
              </a:rPr>
              <a:t>输入 256×256 → 输出 256×256 类别图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实验环境与依赖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40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版本/配置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3.10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虚拟环境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conda unet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2.5.1+cu121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torchvision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0.20.1+cu121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12.1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numpy, pillow, tqdm, tensorboard 2.21.0, gradio 6.20.0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NVIDIA GPU（CUDA 训练）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PingFang SC"/>
              </a:rPr>
              <a:t>单 epoch 训练约 4-5 分钟，GPU 加速对实验效率至关重要。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数据预处理与训练配置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PingFang SC"/>
              </a:rPr>
              <a:t>数据加载：DataLoader，train/val 划分</a:t>
            </a:r>
          </a:p>
          <a:p>
            <a:r>
              <a:rPr sz="1800" b="0">
                <a:latin typeface="PingFang SC"/>
              </a:rPr>
              <a:t>损失函数：CrossEntropyLoss（ignore_index=255）</a:t>
            </a:r>
          </a:p>
          <a:p>
            <a:r>
              <a:rPr sz="1800" b="0">
                <a:latin typeface="PingFang SC"/>
              </a:rPr>
              <a:t>优化器：Adam，初始学习率 0.001</a:t>
            </a:r>
          </a:p>
          <a:p>
            <a:r>
              <a:rPr sz="1800" b="0">
                <a:latin typeface="PingFang SC"/>
              </a:rPr>
              <a:t>训练轮次：100 epochs</a:t>
            </a:r>
          </a:p>
          <a:p>
            <a:r>
              <a:rPr sz="1800" b="0">
                <a:latin typeface="PingFang SC"/>
              </a:rPr>
              <a:t>学习率调度：ReduceLROnPlateau</a:t>
            </a:r>
          </a:p>
          <a:p>
            <a:r>
              <a:rPr sz="1800" b="0">
                <a:latin typeface="PingFang SC"/>
              </a:rPr>
              <a:t>模型保存：按 best_mIoU / best_F1 分别保存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291839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39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超参数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取值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16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0.001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100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num_classes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5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保存路径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save_pth/07070905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训练过程与收敛分析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latin typeface="PingFang SC"/>
              </a:rPr>
              <a:t>初期（Epoch 1-2）</a:t>
            </a:r>
          </a:p>
          <a:p>
            <a:pPr/>
            <a:r>
              <a:rPr sz="1800" b="0">
                <a:latin typeface="PingFang SC"/>
              </a:rPr>
              <a:t>Epoch 1：train_loss=1.3024，val_loss=1.3020，mIoU=0.1110，F1=0.1656</a:t>
            </a:r>
          </a:p>
          <a:p>
            <a:pPr/>
            <a:r>
              <a:rPr sz="1800" b="0">
                <a:latin typeface="PingFang SC"/>
              </a:rPr>
              <a:t>Epoch 2：train_loss=1.2424，val_loss=1.2253，mIoU=0.1318，F1=0.1923</a:t>
            </a:r>
          </a:p>
          <a:p/>
          <a:p>
            <a:pPr/>
            <a:r>
              <a:rPr sz="2000" b="1">
                <a:latin typeface="PingFang SC"/>
              </a:rPr>
              <a:t>末期（Epoch 98-100）</a:t>
            </a:r>
          </a:p>
          <a:p>
            <a:pPr/>
            <a:r>
              <a:rPr sz="1800" b="0">
                <a:latin typeface="PingFang SC"/>
              </a:rPr>
              <a:t>Epoch 100：train_loss≈0.5500，val_loss≈0.9040，mIoU≈0.3784，F1≈0.5052</a:t>
            </a:r>
          </a:p>
          <a:p/>
          <a:p>
            <a:pPr/>
            <a:r>
              <a:rPr sz="2000" b="1">
                <a:latin typeface="PingFang SC"/>
              </a:rPr>
              <a:t>观察</a:t>
            </a:r>
          </a:p>
          <a:p>
            <a:pPr/>
            <a:r>
              <a:rPr sz="1800" b="0">
                <a:latin typeface="PingFang SC"/>
              </a:rPr>
              <a:t>train_loss 持续下降，模型在学习</a:t>
            </a:r>
          </a:p>
          <a:p>
            <a:pPr/>
            <a:r>
              <a:rPr sz="1800" b="0">
                <a:latin typeface="PingFang SC"/>
              </a:rPr>
              <a:t>val_loss 高于 train_loss，存在一定过拟合</a:t>
            </a:r>
          </a:p>
          <a:p>
            <a:pPr/>
            <a:r>
              <a:rPr sz="1800" b="0">
                <a:latin typeface="PingFang SC"/>
              </a:rPr>
              <a:t>指标后期趋于平稳，训练充分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TensorBoard 可视化分析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启动命令：tensorboard --logdir=logs</a:t>
            </a:r>
          </a:p>
          <a:p>
            <a:pPr/>
            <a:r>
              <a:rPr sz="1800" b="0">
                <a:latin typeface="PingFang SC"/>
              </a:rPr>
              <a:t>访问地址：http://localhost:6006/</a:t>
            </a:r>
          </a:p>
          <a:p>
            <a:pPr/>
            <a:r>
              <a:rPr sz="1800" b="0">
                <a:latin typeface="PingFang SC"/>
              </a:rPr>
              <a:t>train_loss 曲线：Step 0-100，从约 1.2 降至约 0.85，收敛良好</a:t>
            </a:r>
          </a:p>
          <a:p>
            <a:pPr/>
            <a:r>
              <a:rPr sz="1800" b="0">
                <a:latin typeface="PingFang SC"/>
              </a:rPr>
              <a:t>F1 曲线：Step 0-100，从约 0.27 升至 0.5052</a:t>
            </a:r>
          </a:p>
          <a:p>
            <a:pPr/>
            <a:r>
              <a:rPr sz="1800" b="0">
                <a:latin typeface="PingFang SC"/>
              </a:rPr>
              <a:t>同时监控：Precision、Recall、mIoU</a:t>
            </a:r>
          </a:p>
          <a:p>
            <a:pPr/>
            <a:r>
              <a:rPr sz="1800" b="0">
                <a:latin typeface="PingFang SC"/>
              </a:rPr>
              <a:t>训练前 20 step 损失下降最快；F1 在 60 step 后进入平台期；与终端 Epoch 100 的 F1=0.5052 一致。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测试集评估结果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验证集（Epoch 100）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测试集（evaluate.py）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mIoU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0.3784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0.3196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0.4499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0.4971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0.4242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0.5052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0.4163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880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PingFang SC"/>
              </a:rPr>
              <a:t>测试集指标低于验证集，存在一定泛化差距</a:t>
            </a:r>
          </a:p>
          <a:p>
            <a:r>
              <a:rPr sz="1800" b="0">
                <a:latin typeface="PingFang SC"/>
              </a:rPr>
              <a:t>mIoU 约 32%，多类遥感分割中属于可接受基线，仍有提升空间</a:t>
            </a:r>
          </a:p>
          <a:p>
            <a:r>
              <a:rPr sz="1800" b="0">
                <a:latin typeface="PingFang SC"/>
              </a:rPr>
              <a:t>可能原因：类别不平衡、边界模糊、数据增强不足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分割效果定性展示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展示内容：原始遥感图、模型预测分割图、预测与原图叠加图</a:t>
            </a:r>
          </a:p>
          <a:p>
            <a:pPr/>
            <a:r>
              <a:rPr sz="1800" b="0">
                <a:latin typeface="PingFang SC"/>
              </a:rPr>
              <a:t>Gradio 输出各类别像素占比，例如：</a:t>
            </a:r>
          </a:p>
          <a:p>
            <a:pPr/>
            <a:r>
              <a:rPr sz="1800" b="0">
                <a:latin typeface="PingFang SC"/>
              </a:rPr>
              <a:t>  类别 0：15.6% | 类别 1：57.5% | 类别 2：5.8%</a:t>
            </a:r>
          </a:p>
          <a:p>
            <a:pPr/>
            <a:r>
              <a:rPr sz="1800" b="0">
                <a:latin typeface="PingFang SC"/>
              </a:rPr>
              <a:t>  类别 3：0.4% | 类别 4：20.7%</a:t>
            </a:r>
          </a:p>
          <a:p>
            <a:pPr/>
            <a:r>
              <a:rPr sz="1800" b="0">
                <a:latin typeface="PingFang SC"/>
              </a:rPr>
              <a:t>定性观察与定量指标结合，验证模型对建筑、植被、道路等类别的分割效果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可视化系统设计（Gradio）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latin typeface="PingFang SC"/>
              </a:rPr>
              <a:t>界面功能</a:t>
            </a:r>
          </a:p>
          <a:p>
            <a:pPr/>
            <a:r>
              <a:rPr sz="1800" b="0">
                <a:latin typeface="PingFang SC"/>
              </a:rPr>
              <a:t>上传单张图片</a:t>
            </a:r>
          </a:p>
          <a:p>
            <a:pPr/>
            <a:r>
              <a:rPr sz="1800" b="0">
                <a:latin typeface="PingFang SC"/>
              </a:rPr>
              <a:t>选择模型权重路径、架构、类别数、颜色表</a:t>
            </a:r>
          </a:p>
          <a:p>
            <a:pPr/>
            <a:r>
              <a:rPr sz="1800" b="0">
                <a:latin typeface="PingFang SC"/>
              </a:rPr>
              <a:t>一键预测，输出分割彩图</a:t>
            </a:r>
          </a:p>
          <a:p>
            <a:pPr/>
            <a:r>
              <a:rPr sz="1800" b="0">
                <a:latin typeface="PingFang SC"/>
              </a:rPr>
              <a:t>显示各类别像素占比与推理设备信息</a:t>
            </a:r>
          </a:p>
          <a:p/>
          <a:p>
            <a:pPr/>
            <a:r>
              <a:rPr sz="2000" b="1">
                <a:latin typeface="PingFang SC"/>
              </a:rPr>
              <a:t>设计思路</a:t>
            </a:r>
          </a:p>
          <a:p>
            <a:pPr/>
            <a:r>
              <a:rPr sz="1800" b="0">
                <a:latin typeface="PingFang SC"/>
              </a:rPr>
              <a:t>降低使用门槛，非技术人员也可操作</a:t>
            </a:r>
          </a:p>
          <a:p>
            <a:pPr/>
            <a:r>
              <a:rPr sz="1800" b="0">
                <a:latin typeface="PingFang SC"/>
              </a:rPr>
              <a:t>参数可调，便于切换不同 checkpoint</a:t>
            </a:r>
          </a:p>
          <a:p>
            <a:pPr/>
            <a:r>
              <a:rPr sz="1800" b="0">
                <a:latin typeface="PingFang SC"/>
              </a:rPr>
              <a:t>支持 CUDA 加速推理</a:t>
            </a:r>
          </a:p>
          <a:p>
            <a:pPr/>
            <a:r>
              <a:rPr sz="1800" b="0">
                <a:latin typeface="PingFang SC"/>
              </a:rPr>
              <a:t>课件原版为 Tkinter 桌面端，本项目采用 Gradio Web 端，更易演示与分享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源码理解要点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train.py：训练循环、前向传播、损失计算、反向传播、验证与模型保存</a:t>
            </a:r>
          </a:p>
          <a:p>
            <a:pPr/>
            <a:r>
              <a:rPr sz="1800" b="0">
                <a:latin typeface="PingFang SC"/>
              </a:rPr>
              <a:t>evaluate.py：加载 best 权重、测试集推理、聚合 mIoU/Precision/Recall/F1</a:t>
            </a:r>
          </a:p>
          <a:p>
            <a:pPr/>
            <a:r>
              <a:rPr sz="1800" b="0">
                <a:latin typeface="PingFang SC"/>
              </a:rPr>
              <a:t>model/unet.py：DoubleConv、下采样、上采样、skip connection 拼接</a:t>
            </a:r>
          </a:p>
          <a:p>
            <a:pPr/>
            <a:r>
              <a:rPr sz="1800" b="0">
                <a:latin typeface="PingFang SC"/>
              </a:rPr>
              <a:t>datasetconfig/：图像-标签配对加载、train/val 模式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课程要求完成情况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latin typeface="PingFang SC"/>
              </a:rPr>
              <a:t>基本要求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完成情况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证据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源码理解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已运行全流程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UNet 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原理说明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完整流程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训练+评估+可视化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超参数调整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lr=0.001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TensorBoard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损失/F1 曲线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可视化功能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Gradio 单图预测+指标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11296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latin typeface="PingFang SC"/>
              </a:rPr>
              <a:t>拓展要求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831336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PingFang SC"/>
                        </a:rPr>
                        <a:t>完成情况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数据增强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未做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注意力机制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未做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多模型对比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未做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自采数据集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PingFang SC"/>
                        </a:rPr>
                        <a:t>未做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不足与改进方向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latin typeface="PingFang SC"/>
              </a:rPr>
              <a:t>不足</a:t>
            </a:r>
          </a:p>
          <a:p>
            <a:pPr/>
            <a:r>
              <a:rPr sz="1800" b="0">
                <a:latin typeface="PingFang SC"/>
              </a:rPr>
              <a:t>指标层面：测试 mIoU 32% 偏低，边界类（道路、水体）可能较差</a:t>
            </a:r>
          </a:p>
          <a:p>
            <a:pPr/>
            <a:r>
              <a:rPr sz="1800" b="0">
                <a:latin typeface="PingFang SC"/>
              </a:rPr>
              <a:t>实验层面：未系统对比 lr/batch size，未做数据增强消融</a:t>
            </a:r>
          </a:p>
          <a:p>
            <a:pPr/>
            <a:r>
              <a:rPr sz="1800" b="0">
                <a:latin typeface="PingFang SC"/>
              </a:rPr>
              <a:t>工程层面：数据路径硬编码，未实现多模型切换界面</a:t>
            </a:r>
          </a:p>
          <a:p>
            <a:pPr/>
            <a:r>
              <a:rPr sz="1800" b="0">
                <a:latin typeface="PingFang SC"/>
              </a:rPr>
              <a:t>文档层面：报告文字分析、团队分工尚未完成</a:t>
            </a:r>
          </a:p>
          <a:p/>
          <a:p>
            <a:pPr/>
            <a:r>
              <a:rPr sz="2000" b="1">
                <a:latin typeface="PingFang SC"/>
              </a:rPr>
              <a:t>改进方向</a:t>
            </a:r>
          </a:p>
          <a:p>
            <a:pPr/>
            <a:r>
              <a:rPr sz="1800" b="0">
                <a:latin typeface="PingFang SC"/>
              </a:rPr>
              <a:t>引入 Dice Loss / Focal Loss</a:t>
            </a:r>
          </a:p>
          <a:p>
            <a:pPr/>
            <a:r>
              <a:rPr sz="1800" b="0">
                <a:latin typeface="PingFang SC"/>
              </a:rPr>
              <a:t>增加旋转、翻转、色彩扰动</a:t>
            </a:r>
          </a:p>
          <a:p>
            <a:pPr/>
            <a:r>
              <a:rPr sz="1800" b="0">
                <a:latin typeface="PingFang SC"/>
              </a:rPr>
              <a:t>尝试 MobileNet-UNet 轻量化对比</a:t>
            </a:r>
          </a:p>
          <a:p>
            <a:pPr/>
            <a:r>
              <a:rPr sz="1800" b="0">
                <a:latin typeface="PingFang SC"/>
              </a:rPr>
              <a:t>完善叠加可视化与批量评估入口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PingFang SC"/>
              </a:rPr>
              <a:t>总结与收获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PingFang SC"/>
              </a:rPr>
              <a:t>掌握了遥感语义分割从数据到部署的完整流程</a:t>
            </a:r>
          </a:p>
          <a:p>
            <a:pPr/>
            <a:r>
              <a:rPr sz="1800" b="0">
                <a:latin typeface="PingFang SC"/>
              </a:rPr>
              <a:t>理解了 U-Net 结构与训练评估指标（mIoU、F1）</a:t>
            </a:r>
          </a:p>
          <a:p>
            <a:pPr/>
            <a:r>
              <a:rPr sz="1800" b="0">
                <a:latin typeface="PingFang SC"/>
              </a:rPr>
              <a:t>学会使用 TensorBoard 监控训练、Gradio 搭建演示界面</a:t>
            </a:r>
          </a:p>
          <a:p>
            <a:pPr/>
            <a:r>
              <a:rPr sz="1800" b="0">
                <a:latin typeface="PingFang SC"/>
              </a:rPr>
              <a:t>体会到深度学习工程中数据质量、超参数、泛化能力的重要性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latin typeface="PingFang SC"/>
              </a:rPr>
              <a:t>致谢 &amp; Q&amp;A</a:t>
            </a:r>
          </a:p>
          <a:p>
            <a:pPr algn="ctr"/>
            <a:r>
              <a:rPr sz="2000" b="0">
                <a:latin typeface="PingFang SC"/>
              </a:rPr>
              <a:t>感谢朱盼盼老师指导</a:t>
            </a:r>
          </a:p>
          <a:p>
            <a:pPr algn="ctr"/>
            <a:r>
              <a:rPr sz="2000" b="0">
                <a:latin typeface="PingFang SC"/>
              </a:rPr>
              <a:t>感谢课程提供的 UNet 框架与 BDCI2017 数据集</a:t>
            </a:r>
          </a:p>
          <a:p>
            <a:pPr algn="ctr"/>
            <a:r>
              <a:rPr sz="2000" b="1">
                <a:latin typeface="PingFang SC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